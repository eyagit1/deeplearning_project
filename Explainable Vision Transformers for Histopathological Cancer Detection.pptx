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></Relationship>
  <Relationship Id="rId2" Type="http://schemas.openxmlformats.org/package/2006/relationships/metadata/thumbnail" Target="docProps/thumbnail.jpeg"></Relationship>
  <Relationship Id="rId3" Type="http://schemas.openxmlformats.org/package/2006/relationships/metadata/core-properties" Target="docProps/core.xml"></Relationship>
  <Relationship Id="rId4" Type="http://schemas.openxmlformats.org/officeDocument/2006/relationships/extended-properties" Target="docProps/app.xml"></Relationship>
  <Relationship Id="rId5" Type="http://schemas.openxmlformats.org/officeDocument/2006/relationships/custom-properties" Target="docProps/custom.xml"></Relationship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.png"/><Relationship Id="rId7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jpg"/><Relationship Id="rId7" Type="http://schemas.openxmlformats.org/officeDocument/2006/relationships/image" Target="../media/image3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jp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34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38.jp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61.png"/><Relationship Id="rId13" Type="http://schemas.openxmlformats.org/officeDocument/2006/relationships/image" Target="../media/image6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image" Target="../media/image71.png"/><Relationship Id="rId12" Type="http://schemas.openxmlformats.org/officeDocument/2006/relationships/image" Target="../media/image72.png"/><Relationship Id="rId13" Type="http://schemas.openxmlformats.org/officeDocument/2006/relationships/image" Target="../media/image73.png"/><Relationship Id="rId14" Type="http://schemas.openxmlformats.org/officeDocument/2006/relationships/image" Target="../media/image74.png"/><Relationship Id="rId15" Type="http://schemas.openxmlformats.org/officeDocument/2006/relationships/image" Target="../media/image7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Relationship Id="rId6" Type="http://schemas.openxmlformats.org/officeDocument/2006/relationships/image" Target="../media/image51.png"/><Relationship Id="rId7" Type="http://schemas.openxmlformats.org/officeDocument/2006/relationships/image" Target="../media/image38.jpg"/><Relationship Id="rId8" Type="http://schemas.openxmlformats.org/officeDocument/2006/relationships/image" Target="../media/image8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8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95000"/>
                </a:srgbClr>
              </a:gs>
              <a:gs pos="50000">
                <a:srgbClr val="172554">
                  <a:alpha val="90000"/>
                </a:srgbClr>
              </a:gs>
              <a:gs pos="100000">
                <a:srgbClr val="134E4A">
                  <a:alpha val="85000"/>
                </a:srgbClr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743931" y="418168"/>
            <a:ext cx="1142971" cy="91626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04792" y="5440017"/>
            <a:ext cx="1142971" cy="96906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762480" y="599288"/>
            <a:ext cx="666733" cy="4587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33546" y="1523999"/>
            <a:ext cx="7924601" cy="2543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290"/>
              </a:lnSpc>
              <a:spcBef>
                <a:spcPts val="0"/>
              </a:spcBef>
              <a:spcAft>
                <a:spcPts val="2080"/>
              </a:spcAft>
            </a:pPr>
            <a:r>
              <a:rPr sz="346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Explainable Vision Transformers for</a:t>
            </a:r>
            <a:r>
              <a:rPr sz="1104"/>
              <a:t>
</a:t>
            </a:r>
            <a:r>
              <a:rPr sz="346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</a:t>
            </a:r>
            <a:r>
              <a:rPr sz="346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Histopathological Cancer Detection</a:t>
            </a:r>
            <a:r>
              <a:rPr sz="3468" b="1">
                <a:solidFill>
                  <a:srgbClr val="FFFFFF"/>
                </a:solidFill>
                <a:latin typeface="Playfair Display"/>
                <a:rFonts ascii="Playfair Display" hAnsi="Playfair Display" eastAsia="Playfair Display" cs="Playfair Display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4629034" y="4448175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000599" y="4387663"/>
            <a:ext cx="190495" cy="14007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43491" y="4448175"/>
            <a:ext cx="1219169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DD4BF"/>
              </a:gs>
              <a:gs pos="100000">
                <a:srgbClr val="000000">
                  <a:alpha val="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33546" y="4857750"/>
            <a:ext cx="792460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5EEAD4"/>
                </a:solidFill>
                <a:latin typeface="Inter"/>
                <a:rFonts ascii="Inter" hAnsi="Inter" eastAsia="Inter" cs="Inter"/>
              </a:rPr>
              <a:t>Aya Gharsalli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93C5FD"/>
                </a:solidFill>
                <a:latin typeface="Inter"/>
                <a:rFonts ascii="Inter" hAnsi="Inter" eastAsia="Inter" cs="Inter"/>
              </a:rPr>
              <a:t>&amp;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435" b="1">
                <a:solidFill>
                  <a:srgbClr val="5EEAD4"/>
                </a:solidFill>
                <a:latin typeface="Inter"/>
                <a:rFonts ascii="Inter" hAnsi="Inter" eastAsia="Inter" cs="Inter"/>
              </a:rPr>
              <a:t>Ferdaws Saidi</a:t>
            </a: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3546" y="5276850"/>
            <a:ext cx="79246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BFDBFE"/>
                </a:solidFill>
                <a:latin typeface="Inter"/>
                <a:rFonts ascii="Inter" hAnsi="Inter" eastAsia="Inter" cs="Inter"/>
              </a:rPr>
              <a:t> Under the supervision of </a:t>
            </a:r>
            <a:r>
              <a:rPr sz="1076" b="0">
                <a:solidFill>
                  <a:srgbClr val="5EEAD4"/>
                </a:solidFill>
                <a:latin typeface="Inter"/>
                <a:rFonts ascii="Inter" hAnsi="Inter" eastAsia="Inter" cs="Inter"/>
              </a:rPr>
              <a:t>Dr. Khemaies Abdallah</a:t>
            </a:r>
            <a:r>
              <a:rPr sz="1076" b="0">
                <a:solidFill>
                  <a:srgbClr val="BFDBFE"/>
                </a:solidFill>
                <a:latin typeface="Inter"/>
                <a:rFonts ascii="Inter" hAnsi="Inter" eastAsia="Inter" cs="Inter"/>
              </a:rPr>
              <a:t>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71905" y="5848350"/>
            <a:ext cx="2657408" cy="514350"/>
          </a:xfrm>
          <a:prstGeom prst="roundRect">
            <a:avLst>
              <a:gd name="adj" fmla="val 37033333"/>
            </a:avLst>
          </a:prstGeom>
          <a:solidFill>
            <a:srgbClr val="FFFFFF">
              <a:alpha val="10000"/>
            </a:srgbClr>
          </a:solidFill>
          <a:ln w="8255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010024" y="6016942"/>
            <a:ext cx="228594" cy="1771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352916" y="5972175"/>
            <a:ext cx="18382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Deep Learning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208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96676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Clinical Challenge: Cancer Detection in Histopathology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95449"/>
            <a:ext cx="6124421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6024" y="2239009"/>
            <a:ext cx="1219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1953357"/>
            <a:ext cx="304792" cy="246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1885950"/>
            <a:ext cx="52481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2228850"/>
            <a:ext cx="5248143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Manual cancer detection is </a:t>
            </a:r>
            <a:r>
              <a:rPr sz="956" b="1">
                <a:solidFill>
                  <a:srgbClr val="DC2626"/>
                </a:solidFill>
                <a:latin typeface="Inter"/>
                <a:rFonts ascii="Inter" hAnsi="Inter" eastAsia="Inter" cs="Inter"/>
              </a:rPr>
              <a:t>time-consuming, subjective</a:t>
            </a:r>
            <a:r>
              <a:rPr sz="956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, and requires specialized expertise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143250"/>
            <a:ext cx="6124421" cy="962024"/>
          </a:xfrm>
          <a:prstGeom prst="roundRect">
            <a:avLst>
              <a:gd name="adj" fmla="val 2376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94612" y="3558222"/>
            <a:ext cx="962024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407019"/>
            <a:ext cx="304792" cy="23446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367" y="3333749"/>
            <a:ext cx="50957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LC25000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367" y="3676649"/>
            <a:ext cx="509574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15,000</a:t>
            </a:r>
            <a:r>
              <a:rPr sz="956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histopathology images • </a:t>
            </a:r>
            <a:r>
              <a:rPr sz="956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768×768</a:t>
            </a:r>
            <a:r>
              <a:rPr sz="956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resolution • 3 organ classes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343400"/>
            <a:ext cx="6124421" cy="2019299"/>
          </a:xfrm>
          <a:prstGeom prst="roundRect">
            <a:avLst>
              <a:gd name="adj" fmla="val 11320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571585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1070" y="4533900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Two Classification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079" y="4914900"/>
            <a:ext cx="2800279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2476" y="5067299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Task 1: Colon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476" y="5372100"/>
            <a:ext cx="24954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Binary Classification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476" y="5638799"/>
            <a:ext cx="24954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vs </a:t>
            </a:r>
            <a:r>
              <a:rPr sz="837" b="1">
                <a:solidFill>
                  <a:srgbClr val="FDE047"/>
                </a:solidFill>
                <a:latin typeface="Inter"/>
                <a:rFonts ascii="Inter" hAnsi="Inter" eastAsia="Inter" cs="Inter"/>
              </a:rPr>
              <a:t>Adenocarcinoma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52756" y="4914900"/>
            <a:ext cx="2800279" cy="1257300"/>
          </a:xfrm>
          <a:prstGeom prst="roundRect">
            <a:avLst>
              <a:gd name="adj" fmla="val 12121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05152" y="5067299"/>
            <a:ext cx="24954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Task 2: Lung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05152" y="5372100"/>
            <a:ext cx="249548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3-Class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05152" y="5638799"/>
            <a:ext cx="2495487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vs </a:t>
            </a:r>
            <a:r>
              <a:rPr sz="837" b="1">
                <a:solidFill>
                  <a:srgbClr val="FDE047"/>
                </a:solidFill>
                <a:latin typeface="Inter"/>
                <a:rFonts ascii="Inter" hAnsi="Inter" eastAsia="Inter" cs="Inter"/>
              </a:rPr>
              <a:t>Adenocarcinoma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vs </a:t>
            </a:r>
            <a:r>
              <a:rPr sz="837" b="1">
                <a:solidFill>
                  <a:srgbClr val="FDE047"/>
                </a:solidFill>
                <a:latin typeface="Inter"/>
                <a:rFonts ascii="Inter" hAnsi="Inter" eastAsia="Inter" cs="Inter"/>
              </a:rPr>
              <a:t>Squamous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5987" y="1743075"/>
            <a:ext cx="4086122" cy="4572000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5987" y="5819775"/>
            <a:ext cx="4086122" cy="495299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48383" y="5972175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vs Malignant Tissue Structures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610584" y="1895474"/>
            <a:ext cx="819129" cy="228600"/>
          </a:xfrm>
          <a:prstGeom prst="roundRect">
            <a:avLst>
              <a:gd name="adj" fmla="val 8332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10584" y="1895474"/>
            <a:ext cx="8191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Critical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724881" y="1949903"/>
            <a:ext cx="152396" cy="1197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8156"/>
            <a:ext cx="380990" cy="3571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668638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ViT-B/16: From Patches to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200275"/>
            <a:ext cx="5181470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94625" y="25152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436429"/>
            <a:ext cx="342891" cy="2896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95367" y="2352675"/>
            <a:ext cx="26574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Patch 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367" y="2619374"/>
            <a:ext cx="26574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9333EA"/>
                </a:solidFill>
                <a:latin typeface="Fira Sans Code"/>
                <a:rFonts ascii="Fira Sans Code" hAnsi="Fira Sans Code" eastAsia="Fira Sans Code" cs="Fira Sans Code"/>
              </a:rPr>
              <a:t>16×16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patches → </a:t>
            </a:r>
            <a:r>
              <a:rPr sz="837" b="1">
                <a:solidFill>
                  <a:srgbClr val="9333EA"/>
                </a:solidFill>
                <a:latin typeface="Fira Sans Code"/>
                <a:rFonts ascii="Fira Sans Code" hAnsi="Fira Sans Code" eastAsia="Fira Sans Code" cs="Fira Sans Code"/>
              </a:rPr>
              <a:t>196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tokens + CLS token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114675"/>
            <a:ext cx="5181470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4625" y="342963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362653"/>
            <a:ext cx="342891" cy="26604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95367" y="3267075"/>
            <a:ext cx="34670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Transformer 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367" y="3533774"/>
            <a:ext cx="34670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12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blocks • </a:t>
            </a: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768-dim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embeddings • </a:t>
            </a: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12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attention heads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029075"/>
            <a:ext cx="5181470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56524" y="438213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315153"/>
            <a:ext cx="342891" cy="26604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95367" y="4181474"/>
            <a:ext cx="29622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Classification 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95367" y="4486275"/>
            <a:ext cx="1457288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5367" y="4486275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Fira Sans Code"/>
                <a:rFonts ascii="Fira Sans Code" hAnsi="Fira Sans Code" eastAsia="Fira Sans Code" cs="Fira Sans Code"/>
              </a:rPr>
              <a:t>Linear(768→2) Colon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66953" y="4486275"/>
            <a:ext cx="1390615" cy="228600"/>
          </a:xfrm>
          <a:prstGeom prst="roundRect">
            <a:avLst>
              <a:gd name="adj" fmla="val 33333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66953" y="4486275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334155"/>
                </a:solidFill>
                <a:latin typeface="Fira Sans Code"/>
                <a:rFonts ascii="Fira Sans Code" hAnsi="Fira Sans Code" eastAsia="Fira Sans Code" cs="Fira Sans Code"/>
              </a:rPr>
              <a:t>Linear(768→3) Lung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019675"/>
            <a:ext cx="5181470" cy="838200"/>
          </a:xfrm>
          <a:prstGeom prst="roundRect">
            <a:avLst>
              <a:gd name="adj" fmla="val 27272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5201064"/>
            <a:ext cx="266693" cy="2087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5172075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Transfer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0" y="5514975"/>
            <a:ext cx="487667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Pre-trained on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ImageNet-21k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• </a:t>
            </a:r>
            <a:r>
              <a:rPr sz="83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86M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parameters • Fine-tuned on LC25000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639" y="1647825"/>
            <a:ext cx="5181470" cy="4762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400639" y="5991225"/>
            <a:ext cx="5181470" cy="419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4937" y="6105525"/>
            <a:ext cx="49528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ViT Architecture Flow: Patches → Encoder → Prediction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208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749598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Optimization Pipeline for Medical Imaging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838324"/>
            <a:ext cx="620061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94625" y="21532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112351"/>
            <a:ext cx="304792" cy="2139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57268" y="1990724"/>
            <a:ext cx="5400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AdamW Optimizer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7268" y="2257425"/>
            <a:ext cx="54005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lr=2e-4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</a:t>
            </a: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weight_decay=1e-4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Decoupled weight decay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2714625"/>
            <a:ext cx="620061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294625" y="30295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013563"/>
            <a:ext cx="304792" cy="1641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57268" y="2867025"/>
            <a:ext cx="5400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Cosine Annealing LR Scheduler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7268" y="3133724"/>
            <a:ext cx="54005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Smooth decay • </a:t>
            </a:r>
            <a:r>
              <a:rPr sz="837" b="1">
                <a:solidFill>
                  <a:srgbClr val="0D9488"/>
                </a:solidFill>
                <a:latin typeface="Fira Sans Code"/>
                <a:rFonts ascii="Fira Sans Code" hAnsi="Fira Sans Code" eastAsia="Fira Sans Code" cs="Fira Sans Code"/>
              </a:rPr>
              <a:t>T_max=15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Prevents abrupt convergence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590924"/>
            <a:ext cx="620061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294625" y="3905883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3848832"/>
            <a:ext cx="304792" cy="2461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57268" y="3743325"/>
            <a:ext cx="54005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Class-Weighted Cross-Entropy Loss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7268" y="4010024"/>
            <a:ext cx="54005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Handles class imbalance in </a:t>
            </a:r>
            <a:r>
              <a:rPr sz="837" b="1">
                <a:solidFill>
                  <a:srgbClr val="475569"/>
                </a:solidFill>
                <a:latin typeface="Inter"/>
                <a:rFonts ascii="Inter" hAnsi="Inter" eastAsia="Inter" cs="Inter"/>
              </a:rPr>
              <a:t>lung 3-class task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• Compensates minority classes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467224"/>
            <a:ext cx="6200619" cy="876299"/>
          </a:xfrm>
          <a:prstGeom prst="roundRect">
            <a:avLst>
              <a:gd name="adj" fmla="val 26086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4634119"/>
            <a:ext cx="266693" cy="2377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2971" y="4619625"/>
            <a:ext cx="26097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Aggressive Data Augmentation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1980" y="4962525"/>
            <a:ext cx="1533486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980" y="4962525"/>
            <a:ext cx="15334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RandomHorizontalFlip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62140" y="4962525"/>
            <a:ext cx="1390615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2140" y="4962525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RandomVerticalFlip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38479" y="4962525"/>
            <a:ext cx="904852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38479" y="4962525"/>
            <a:ext cx="9048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ColorJitter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19529" y="4962525"/>
            <a:ext cx="1457288" cy="228600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19529" y="4962525"/>
            <a:ext cx="145728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RandomRotation(15°)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84" y="5457825"/>
            <a:ext cx="6200619" cy="761999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294625" y="5772784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0079" y="5721594"/>
            <a:ext cx="304792" cy="234461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257268" y="5610224"/>
            <a:ext cx="28288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Best Model Checkpointing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57268" y="5876925"/>
            <a:ext cx="282885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Save model with highest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validation accuracy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2185" y="1647825"/>
            <a:ext cx="4009924" cy="47625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72185" y="5991225"/>
            <a:ext cx="4009924" cy="4191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6482" y="6105525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Cosine Annealing Schedule: Smooth LR Decay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362940" y="1800225"/>
            <a:ext cx="1066773" cy="228600"/>
          </a:xfrm>
          <a:prstGeom prst="roundRect">
            <a:avLst>
              <a:gd name="adj" fmla="val 8332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62940" y="1800225"/>
            <a:ext cx="10667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</a:t>
            </a:r>
            <a:r>
              <a:rPr sz="1104"/>
              <a:t>  </a:t>
            </a:r>
            <a:r>
              <a:rPr sz="71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Converging 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477238" y="1870982"/>
            <a:ext cx="152396" cy="87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97085"/>
            <a:ext cx="380990" cy="339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499097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Clinical-Grade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504950"/>
            <a:ext cx="4086122" cy="2752725"/>
          </a:xfrm>
          <a:prstGeom prst="roundRect">
            <a:avLst>
              <a:gd name="adj" fmla="val 11072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38179" y="176871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268" y="1752599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Colon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179" y="2190749"/>
            <a:ext cx="36289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Test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179" y="2419349"/>
            <a:ext cx="36289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99.93</a:t>
            </a: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%</a:t>
            </a:r>
          </a:p>
        </p:txBody>
      </p:sp>
      <p:sp>
        <p:nvSpPr>
          <p:cNvPr id="9" name="Rectangle 8"/>
          <p:cNvSpPr/>
          <p:nvPr/>
        </p:nvSpPr>
        <p:spPr>
          <a:xfrm>
            <a:off x="838179" y="2914650"/>
            <a:ext cx="3628934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8179" y="3038475"/>
            <a:ext cx="36289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DBEAFE"/>
                </a:solidFill>
                <a:latin typeface="Inter"/>
                <a:rFonts ascii="Inter" hAnsi="Inter" eastAsia="Inter" cs="Inter"/>
              </a:rPr>
              <a:t>Macro 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179" y="3267075"/>
            <a:ext cx="362893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0.9993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8179" y="3724274"/>
            <a:ext cx="2143071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2476" y="3800475"/>
            <a:ext cx="191447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Binary: Benign vs Adenocarcinoma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448175"/>
            <a:ext cx="4086122" cy="2752725"/>
          </a:xfrm>
          <a:prstGeom prst="roundRect">
            <a:avLst>
              <a:gd name="adj" fmla="val 11072"/>
            </a:avLst>
          </a:prstGeom>
          <a:gradFill rotWithShape="1">
            <a:gsLst>
              <a:gs pos="0">
                <a:srgbClr val="9333EA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4741251"/>
            <a:ext cx="304792" cy="17584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57268" y="4695824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Lung 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179" y="5133975"/>
            <a:ext cx="36289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Test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179" y="5362575"/>
            <a:ext cx="3628934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99.82</a:t>
            </a:r>
            <a:r>
              <a:rPr sz="1435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8179" y="5857875"/>
            <a:ext cx="3628934" cy="9525"/>
          </a:xfrm>
          <a:prstGeom prst="rect">
            <a:avLst/>
          </a:prstGeom>
          <a:solidFill>
            <a:srgbClr val="FFFF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179" y="5981699"/>
            <a:ext cx="36289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F3E8FF"/>
                </a:solidFill>
                <a:latin typeface="Inter"/>
                <a:rFonts ascii="Inter" hAnsi="Inter" eastAsia="Inter" cs="Inter"/>
              </a:rPr>
              <a:t>Macro F1-Score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6210299"/>
            <a:ext cx="3628934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0.9982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8179" y="6667499"/>
            <a:ext cx="1952576" cy="3048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2476" y="6743700"/>
            <a:ext cx="172398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3-Class: Benign vs ACA vs SCC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305292" y="2312670"/>
            <a:ext cx="228594" cy="194309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305292" y="2771775"/>
            <a:ext cx="3066973" cy="281939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57688" y="2924175"/>
            <a:ext cx="2762180" cy="2095499"/>
          </a:xfrm>
          <a:prstGeom prst="round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7688" y="5095874"/>
            <a:ext cx="27621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Colon: Binary Classification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7688" y="5286375"/>
            <a:ext cx="27621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Near-perfect diagonal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15137" y="2771775"/>
            <a:ext cx="3066973" cy="2819399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667533" y="2924175"/>
            <a:ext cx="2762180" cy="209549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67533" y="5095874"/>
            <a:ext cx="27621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Lung: 3-Class 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7533" y="5286375"/>
            <a:ext cx="276218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Robust across subtypes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5292" y="5743575"/>
            <a:ext cx="6276818" cy="685800"/>
          </a:xfrm>
          <a:prstGeom prst="roundRect">
            <a:avLst>
              <a:gd name="adj" fmla="val 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028432" y="6020435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95787" y="5895974"/>
            <a:ext cx="5933926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Key Insight: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Near-perfect discrimination between benign and malignant tissues across both organ sites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41734"/>
            <a:ext cx="380990" cy="2500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88580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Transparent AI: From Black Box to Clinical Insight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38299"/>
            <a:ext cx="4086122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32699" y="2115184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815340"/>
            <a:ext cx="266693" cy="2174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179070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133599"/>
            <a:ext cx="374323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Propagates attention weights through </a:t>
            </a: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12 transformer layers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to identify regions of interest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2867025"/>
            <a:ext cx="4086122" cy="1085850"/>
          </a:xfrm>
          <a:prstGeom prst="roundRect">
            <a:avLst>
              <a:gd name="adj" fmla="val 2105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132699" y="3343910"/>
            <a:ext cx="10858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048414"/>
            <a:ext cx="266693" cy="20872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81070" y="3019424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Grad-CAM for ViT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79" y="3362324"/>
            <a:ext cx="3743231" cy="438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Class-discriminative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visualization showing model focus for specific predictions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095749"/>
            <a:ext cx="4086122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4277139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42971" y="4248150"/>
            <a:ext cx="158111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Dual XAI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0" y="4591050"/>
            <a:ext cx="378133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Provides both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global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(Attention Rollout) and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local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(Grad-CAM) explanations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5276850"/>
            <a:ext cx="4086122" cy="1143000"/>
          </a:xfrm>
          <a:prstGeom prst="roundRect">
            <a:avLst>
              <a:gd name="adj" fmla="val 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104124" y="5782310"/>
            <a:ext cx="11430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0079" y="5484494"/>
            <a:ext cx="228594" cy="19430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42971" y="5429250"/>
            <a:ext cx="34003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Significance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2971" y="5695949"/>
            <a:ext cx="340033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Heatmaps reveal model focuses on </a:t>
            </a:r>
            <a:r>
              <a:rPr sz="837" b="1">
                <a:solidFill>
                  <a:srgbClr val="EA580C"/>
                </a:solidFill>
                <a:latin typeface="Inter"/>
                <a:rFonts ascii="Inter" hAnsi="Inter" eastAsia="Inter" cs="Inter"/>
              </a:rPr>
              <a:t>histological structures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, not artifacts • Critical for clinical trust and adoption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5292" y="1895474"/>
            <a:ext cx="6276818" cy="4267199"/>
          </a:xfrm>
          <a:prstGeom prst="roundRect">
            <a:avLst>
              <a:gd name="adj" fmla="val 7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495787" y="2110740"/>
            <a:ext cx="228594" cy="21717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495787" y="2505074"/>
            <a:ext cx="1885902" cy="2286000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95787" y="4867274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Original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95787" y="5057775"/>
            <a:ext cx="18859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Raw tissue sample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5987" y="2505074"/>
            <a:ext cx="1885902" cy="2286000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5987" y="4867274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5987" y="5057775"/>
            <a:ext cx="18859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Global attention focus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5712" y="2505074"/>
            <a:ext cx="1885902" cy="2286000"/>
          </a:xfrm>
          <a:prstGeom prst="round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5712" y="4867274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Grad-CAM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5712" y="5057775"/>
            <a:ext cx="18859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Class-specific regions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95787" y="5362575"/>
            <a:ext cx="5895827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610084" y="5586132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14877" y="5476875"/>
            <a:ext cx="536244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Both methods agree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on salient regions • Model focuses on </a:t>
            </a: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malignant tissue structures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2203"/>
            <a:ext cx="380990" cy="369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797222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Bridging Deep Learning and Clinical Practice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619250"/>
            <a:ext cx="4086122" cy="1485900"/>
          </a:xfrm>
          <a:prstGeom prst="roundRect">
            <a:avLst>
              <a:gd name="adj" fmla="val 15384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8387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81070" y="180974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Contributions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79" y="2190749"/>
            <a:ext cx="37051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99.93%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Colon accuracy • </a:t>
            </a:r>
            <a:r>
              <a:rPr sz="83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99.82%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Lung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457450"/>
            <a:ext cx="37051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Novel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XAI for ViT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in histopathology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724150"/>
            <a:ext cx="37051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Dual explanation builds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clinical trust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257550"/>
            <a:ext cx="4086122" cy="148590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-67326" y="3934460"/>
            <a:ext cx="14859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38179" y="3477039"/>
            <a:ext cx="266693" cy="20872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9169" y="3448049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179" y="3829050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Explainability enables </a:t>
            </a: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pathologist 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179" y="4095749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Reduces diagnostic errors &amp; variability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179" y="4362450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Foundation for </a:t>
            </a: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multi-organ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detection system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584" y="4895849"/>
            <a:ext cx="4086122" cy="16764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-162576" y="5668009"/>
            <a:ext cx="16764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8179" y="5108091"/>
            <a:ext cx="266693" cy="22321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19169" y="5086350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Future Directions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179" y="5467349"/>
            <a:ext cx="3667033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Multi-modal fusion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(histopathology + radiology + clinical)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179" y="5924549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Extension to other cancer types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179" y="6191250"/>
            <a:ext cx="366703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Real-time clinical decision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5292" y="1504950"/>
            <a:ext cx="6276818" cy="5181599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533886" y="1769745"/>
            <a:ext cx="228594" cy="194309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533886" y="2152650"/>
            <a:ext cx="5819629" cy="4000500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162620" y="6305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53116" y="6267449"/>
            <a:ext cx="100962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ViT-Base (Ours)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1335" y="630555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81830" y="6267449"/>
            <a:ext cx="93342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CNN Baselines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836414"/>
            <a:ext cx="380990" cy="2321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10439139" cy="11430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Dual Explanation Framework: Attention Rollout vs Grad-CAM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343150"/>
            <a:ext cx="5257668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7925" y="2924809"/>
            <a:ext cx="1295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539033"/>
            <a:ext cx="266693" cy="179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81070" y="2495550"/>
            <a:ext cx="14001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8384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Type: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Class-agnostic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3666" y="28384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Scope: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Global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30670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Layers: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All 12 blocks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3666" y="30670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Fusion: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Mean/Min/Max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079" y="3295650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563EB"/>
                </a:solidFill>
                <a:latin typeface="Inter"/>
                <a:rFonts ascii="Inter" hAnsi="Inter" eastAsia="Inter" cs="Inter"/>
              </a:rPr>
              <a:t>Filter: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Discard ratio for noise reduction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3752849"/>
            <a:ext cx="5257668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27925" y="4334508"/>
            <a:ext cx="1295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934239"/>
            <a:ext cx="266693" cy="2087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81070" y="3905249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Grad-CAM for ViT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79" y="42481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Type: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Class-discriminative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3666" y="42481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Scope: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Local regions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44767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Source: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Last block gradients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3666" y="4476750"/>
            <a:ext cx="238119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Activation: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Weighted sum + ReLU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4705350"/>
            <a:ext cx="49147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Focus: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Prediction-specific features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162550"/>
            <a:ext cx="5257668" cy="1295399"/>
          </a:xfrm>
          <a:prstGeom prst="roundRect">
            <a:avLst>
              <a:gd name="adj" fmla="val 17647"/>
            </a:avLst>
          </a:prstGeom>
          <a:gradFill rotWithShape="1">
            <a:gsLst>
              <a:gs pos="0">
                <a:srgbClr val="9333EA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5348287"/>
            <a:ext cx="266693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42971" y="5314950"/>
            <a:ext cx="20573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Complementary Insights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0" y="5657850"/>
            <a:ext cx="49528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Rollout: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WHERE model looks overall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0" y="5886450"/>
            <a:ext cx="49528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Grad-CAM: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WHAT drives each 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980" y="6115050"/>
            <a:ext cx="495287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Together: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Complete explanation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4441" y="2076449"/>
            <a:ext cx="5257668" cy="464820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311717"/>
            <a:ext cx="228594" cy="177164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6514937" y="2686050"/>
            <a:ext cx="1552536" cy="2476499"/>
          </a:xfrm>
          <a:prstGeom prst="round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4937" y="5238749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Original Image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4937" y="5429250"/>
            <a:ext cx="15525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Raw tissue sample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1770" y="2686050"/>
            <a:ext cx="1552536" cy="2476499"/>
          </a:xfrm>
          <a:prstGeom prst="round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1770" y="5238749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Attention Rollout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1770" y="5429250"/>
            <a:ext cx="15525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Global attention flow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9079" y="2686050"/>
            <a:ext cx="1552536" cy="2476499"/>
          </a:xfrm>
          <a:prstGeom prst="round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39079" y="5238749"/>
            <a:ext cx="155253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Grad-CAM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39079" y="5429250"/>
            <a:ext cx="155253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Class-specific focus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14937" y="5734050"/>
            <a:ext cx="4876678" cy="80010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29234" y="59004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934026" y="5848350"/>
            <a:ext cx="4343291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Dual approach confirms: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Model focuses on </a:t>
            </a: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histological structures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, not artifacts • High confidence predictions correlate with precise attention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2203"/>
            <a:ext cx="380990" cy="369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92009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Future Direction: Multi-Modal Cancer Classification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81174"/>
            <a:ext cx="4086122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161274" y="2229484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964697"/>
            <a:ext cx="247643" cy="204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1933574"/>
            <a:ext cx="19240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Histopathology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276474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ViT-B/16 → </a:t>
            </a:r>
            <a:r>
              <a:rPr sz="837" b="1">
                <a:solidFill>
                  <a:srgbClr val="2563EB"/>
                </a:solidFill>
                <a:latin typeface="Fira Sans Code"/>
                <a:rFonts ascii="Fira Sans Code" hAnsi="Fira Sans Code" eastAsia="Fira Sans Code" cs="Fira Sans Code"/>
              </a:rPr>
              <a:t>768-dim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05074"/>
            <a:ext cx="37432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High-resolution tissue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2924175"/>
            <a:ext cx="4086122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161274" y="3372485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103377"/>
            <a:ext cx="247643" cy="21309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62020" y="3076574"/>
            <a:ext cx="146681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Radiology Branch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79" y="3419474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ViT-S/16 → </a:t>
            </a:r>
            <a:r>
              <a:rPr sz="837" b="1">
                <a:solidFill>
                  <a:srgbClr val="0D9488"/>
                </a:solidFill>
                <a:latin typeface="Fira Sans Code"/>
                <a:rFonts ascii="Fira Sans Code" hAnsi="Fira Sans Code" eastAsia="Fira Sans Code" cs="Fira Sans Code"/>
              </a:rPr>
              <a:t>384-dim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79" y="3648074"/>
            <a:ext cx="37432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CT / X-Ray imaging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067174"/>
            <a:ext cx="4086122" cy="10287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161274" y="4515484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246377"/>
            <a:ext cx="247643" cy="21309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62020" y="4219575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Clinical Metadata Branch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4562475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MLP Encoder → </a:t>
            </a:r>
            <a:r>
              <a:rPr sz="837" b="1">
                <a:solidFill>
                  <a:srgbClr val="9333EA"/>
                </a:solidFill>
                <a:latin typeface="Fira Sans Code"/>
                <a:rFonts ascii="Fira Sans Code" hAnsi="Fira Sans Code" eastAsia="Fira Sans Code" cs="Fira Sans Code"/>
              </a:rPr>
              <a:t>128-dim</a:t>
            </a: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4791075"/>
            <a:ext cx="374323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Age, smoking, stage, biomarkers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584" y="5210174"/>
            <a:ext cx="4086122" cy="1066799"/>
          </a:xfrm>
          <a:prstGeom prst="roundRect">
            <a:avLst>
              <a:gd name="adj" fmla="val 21428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1980" y="5403776"/>
            <a:ext cx="247643" cy="18429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362575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Fusion Strategy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980" y="5705475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Concatenate: </a:t>
            </a:r>
            <a:r>
              <a:rPr sz="83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768 + 384 + 128 = 1280 dim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980" y="5934075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Fusion MLP → Classification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05292" y="1695449"/>
            <a:ext cx="6276818" cy="4667249"/>
          </a:xfrm>
          <a:prstGeom prst="roundRect">
            <a:avLst>
              <a:gd name="adj" fmla="val 653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495787" y="1930717"/>
            <a:ext cx="228594" cy="177164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5495787" y="2266950"/>
            <a:ext cx="5895827" cy="3181350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48183" y="2419349"/>
            <a:ext cx="1581110" cy="933449"/>
          </a:xfrm>
          <a:prstGeom prst="roundRect">
            <a:avLst>
              <a:gd name="adj" fmla="val 16326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286342" y="2562957"/>
            <a:ext cx="304792" cy="24618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762480" y="2933699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1D4ED8"/>
                </a:solidFill>
                <a:latin typeface="Inter"/>
                <a:rFonts ascii="Inter" hAnsi="Inter" eastAsia="Inter" cs="Inter"/>
              </a:rPr>
              <a:t>Histopathology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2480" y="3086100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ViT-B/16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7343591" y="2816038"/>
            <a:ext cx="190495" cy="140073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648383" y="2419349"/>
            <a:ext cx="1581110" cy="933449"/>
          </a:xfrm>
          <a:prstGeom prst="roundRect">
            <a:avLst>
              <a:gd name="adj" fmla="val 16326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8286542" y="2557096"/>
            <a:ext cx="304792" cy="25790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7762680" y="2933699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Radiology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62680" y="3086100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ViT-S/16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353316" y="2816038"/>
            <a:ext cx="190495" cy="140073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9658108" y="2419349"/>
            <a:ext cx="1581110" cy="933449"/>
          </a:xfrm>
          <a:prstGeom prst="roundRect">
            <a:avLst>
              <a:gd name="adj" fmla="val 16326"/>
            </a:avLst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10296267" y="2555630"/>
            <a:ext cx="304792" cy="26083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772405" y="2933699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1">
                <a:solidFill>
                  <a:srgbClr val="7E22CE"/>
                </a:solidFill>
                <a:latin typeface="Inter"/>
                <a:rFonts ascii="Inter" hAnsi="Inter" eastAsia="Inter" cs="Inter"/>
              </a:rPr>
              <a:t>Clinical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2405" y="3086100"/>
            <a:ext cx="135251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MLP Encoder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24641" y="3498532"/>
            <a:ext cx="228594" cy="165734"/>
          </a:xfrm>
          <a:prstGeom prst="rect">
            <a:avLst/>
          </a:prstGeom>
        </p:spPr>
      </p:pic>
      <p:sp>
        <p:nvSpPr>
          <p:cNvPr id="45" name="Rounded Rectangle 44"/>
          <p:cNvSpPr/>
          <p:nvPr/>
        </p:nvSpPr>
        <p:spPr>
          <a:xfrm>
            <a:off x="6343491" y="3771900"/>
            <a:ext cx="4190895" cy="57150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14B8A6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72085" y="3886200"/>
            <a:ext cx="373370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Feature Fusion Layer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72085" y="4076699"/>
            <a:ext cx="373370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768 + 384 + 128 = 1280 dimensions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324641" y="4451032"/>
            <a:ext cx="228594" cy="165734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7048323" y="4724399"/>
            <a:ext cx="2800279" cy="571500"/>
          </a:xfrm>
          <a:prstGeom prst="roundRect">
            <a:avLst>
              <a:gd name="adj" fmla="val 26666"/>
            </a:avLst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276918" y="4838699"/>
            <a:ext cx="23430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Classification 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76918" y="5029200"/>
            <a:ext cx="23430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2-class / 3-class / Multi-class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95787" y="5562600"/>
            <a:ext cx="5895827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610084" y="5729007"/>
            <a:ext cx="190495" cy="162485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5914877" y="5676900"/>
            <a:ext cx="536244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Key Advantage: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Combines visual patterns with clinical context → </a:t>
            </a: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more robust, interpretable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predictions for clinical decision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82203"/>
            <a:ext cx="380990" cy="36909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1029626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Scalable Framework: From Lung to Multi-Organ Detection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2200275"/>
            <a:ext cx="4086122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56524" y="2553335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2388116"/>
            <a:ext cx="247643" cy="1958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2352675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Organ-Agnostic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695575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Same ViT-B/16 backbone • Custom heads • Unified XAI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584" y="3152775"/>
            <a:ext cx="4086122" cy="1295399"/>
          </a:xfrm>
          <a:prstGeom prst="roundRect">
            <a:avLst>
              <a:gd name="adj" fmla="val 17647"/>
            </a:avLst>
          </a:prstGeom>
          <a:gradFill rotWithShape="1">
            <a:gsLst>
              <a:gs pos="0">
                <a:srgbClr val="0D9488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61980" y="3331977"/>
            <a:ext cx="247643" cy="2130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23921" y="3305174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Easy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980" y="3648074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1.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Register new organ in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980" y="3876674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2.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Specify classes &amp; data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0" y="4105274"/>
            <a:ext cx="37813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3.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Auto-generate custom head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562475"/>
            <a:ext cx="4086122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7925" y="5144134"/>
            <a:ext cx="1295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0079" y="4735918"/>
            <a:ext cx="247643" cy="2246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62020" y="4714875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Key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079" y="5057775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Consistent XAI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across organs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079" y="5286375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Standardized metrics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&amp;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79" y="5514975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Rapid deployment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for new types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5292" y="1924049"/>
            <a:ext cx="6276818" cy="4210049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495787" y="2145030"/>
            <a:ext cx="228594" cy="205739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5495787" y="2495550"/>
            <a:ext cx="1885902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14B8A6"/>
              </a:gs>
              <a:gs pos="100000">
                <a:srgbClr val="0D9488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286342" y="2687515"/>
            <a:ext cx="304792" cy="22566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48183" y="308610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Lung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8183" y="33147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3 Classes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8183" y="34671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• ACA • SCC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95987" y="2495550"/>
            <a:ext cx="1885902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286542" y="2669930"/>
            <a:ext cx="304792" cy="26083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648383" y="308610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Colon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8383" y="33147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2 Classes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383" y="34671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• Adenocarcinoma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5712" y="2495550"/>
            <a:ext cx="1885902" cy="1276350"/>
          </a:xfrm>
          <a:prstGeom prst="roundRect">
            <a:avLst>
              <a:gd name="adj" fmla="val 11940"/>
            </a:avLst>
          </a:prstGeom>
          <a:gradFill rotWithShape="1">
            <a:gsLst>
              <a:gs pos="0">
                <a:srgbClr val="A855F7"/>
              </a:gs>
              <a:gs pos="100000">
                <a:srgbClr val="9333EA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0296267" y="2680188"/>
            <a:ext cx="304792" cy="24032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9658108" y="3086100"/>
            <a:ext cx="15811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Breast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58108" y="33147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2 Classes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58108" y="3467100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Benign • Malignant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95787" y="3924299"/>
            <a:ext cx="5895827" cy="1295399"/>
          </a:xfrm>
          <a:prstGeom prst="roundRect">
            <a:avLst>
              <a:gd name="adj" fmla="val 11764"/>
            </a:avLst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057748" y="41528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210144" y="4340469"/>
            <a:ext cx="304792" cy="234461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057748" y="4838699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Input Data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6895927" y="4489132"/>
            <a:ext cx="228594" cy="165734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7410264" y="4076699"/>
            <a:ext cx="761980" cy="761999"/>
          </a:xfrm>
          <a:prstGeom prst="roundRect">
            <a:avLst>
              <a:gd name="adj" fmla="val 24997500"/>
            </a:avLst>
          </a:prstGeom>
          <a:gradFill rotWithShape="1">
            <a:gsLst>
              <a:gs pos="0">
                <a:srgbClr val="14B8A6"/>
              </a:gs>
              <a:gs pos="100000">
                <a:srgbClr val="3B82F6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7600759" y="4311848"/>
            <a:ext cx="380990" cy="2917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7353116" y="4914900"/>
            <a:ext cx="88580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ViT-B/16 Engine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467513" y="4489132"/>
            <a:ext cx="228594" cy="165734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8924701" y="41528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9077098" y="4358053"/>
            <a:ext cx="304792" cy="19929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924701" y="4838699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XAI Layer</a:t>
            </a: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9762880" y="4489132"/>
            <a:ext cx="228594" cy="165734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0220069" y="4152899"/>
            <a:ext cx="609584" cy="609600"/>
          </a:xfrm>
          <a:prstGeom prst="roundRect">
            <a:avLst>
              <a:gd name="adj" fmla="val 31246875"/>
            </a:avLst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10372465" y="4328746"/>
            <a:ext cx="304792" cy="257907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220069" y="4838699"/>
            <a:ext cx="6095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Diagnosis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495787" y="5334000"/>
            <a:ext cx="5895827" cy="60960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15">
            <a:alphaModFix amt="100000"/>
          </a:blip>
          <a:stretch>
            <a:fillRect/>
          </a:stretch>
        </p:blipFill>
        <p:spPr>
          <a:xfrm>
            <a:off x="5610084" y="5528422"/>
            <a:ext cx="190495" cy="106455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914877" y="5448300"/>
            <a:ext cx="5362440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Scalable Design: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</a:t>
            </a:r>
            <a:r>
              <a:rPr sz="717" b="0">
                <a:solidFill>
                  <a:srgbClr val="334155"/>
                </a:solidFill>
                <a:latin typeface="Fira Sans Code"/>
                <a:rFonts ascii="Fira Sans Code" hAnsi="Fira Sans Code" eastAsia="Fira Sans Code" cs="Fira Sans Code"/>
              </a:rPr>
              <a:t>build_model_for_organ('organ_name')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→ Auto-configure ViT + custom head + XAI tools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497085"/>
            <a:ext cx="380990" cy="3393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96771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Medical-Grade Data Augmentation for Robust Training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790700"/>
            <a:ext cx="5181470" cy="1295399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27925" y="2372359"/>
            <a:ext cx="1295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969902"/>
            <a:ext cx="247643" cy="21309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2020" y="1943100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Why Augmentation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79" y="2286000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No canonical orientation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in histopathology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79" y="2514600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Stain variation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between laboratories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79" y="2743200"/>
            <a:ext cx="483857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• </a:t>
            </a: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Limited training data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→ prevent overfitting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200400"/>
            <a:ext cx="5181470" cy="21717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-410226" y="4220210"/>
            <a:ext cx="2171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3396880"/>
            <a:ext cx="247643" cy="17853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62020" y="3352800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E293B"/>
                </a:solidFill>
                <a:latin typeface="Inter"/>
                <a:rFonts ascii="Inter" hAnsi="Inter" eastAsia="Inter" cs="Inter"/>
              </a:rPr>
              <a:t>Train-Only Augmentations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79" y="3695699"/>
            <a:ext cx="2381190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6278" y="37719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RandomHorizontalFlip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78" y="3924299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Tissue rotation simulation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7468" y="3695699"/>
            <a:ext cx="2381190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33666" y="37719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RandomVerticalFlip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3666" y="3924299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Slide orientation simulation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079" y="4229100"/>
            <a:ext cx="2381190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6278" y="43053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RandomRotation(15°)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278" y="44577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Placement variation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57468" y="4229100"/>
            <a:ext cx="2381190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3666" y="43053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ColorJitter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3666" y="4457700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Staining compensation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0079" y="4762500"/>
            <a:ext cx="4838579" cy="457200"/>
          </a:xfrm>
          <a:prstGeom prst="roundRect">
            <a:avLst>
              <a:gd name="adj" fmla="val 33333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6278" y="483869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1">
                <a:solidFill>
                  <a:srgbClr val="0F766E"/>
                </a:solidFill>
                <a:latin typeface="Inter"/>
                <a:rFonts ascii="Inter" hAnsi="Inter" eastAsia="Inter" cs="Inter"/>
              </a:rPr>
              <a:t>RandomResizedCrop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6278" y="499110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475569"/>
                </a:solidFill>
                <a:latin typeface="Inter"/>
                <a:rFonts ascii="Inter" hAnsi="Inter" eastAsia="Inter" cs="Inter"/>
              </a:rPr>
              <a:t>Different field of view simulation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9584" y="5486400"/>
            <a:ext cx="5181470" cy="1028700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9333EA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61980" y="5659843"/>
            <a:ext cx="247643" cy="2246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123921" y="5638799"/>
            <a:ext cx="161920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Evaluation Protocol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980" y="5981699"/>
            <a:ext cx="4876678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Clean transforms only: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Resize + Normalize • No augmentation → Unbiased metrics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639" y="1504950"/>
            <a:ext cx="5181470" cy="5295899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91135" y="1740217"/>
            <a:ext cx="228594" cy="177164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6591135" y="2076449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591135" y="2076449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1135" y="34861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Original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91135" y="367664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Raw tissue sample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394" y="2076449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29394" y="2076449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394" y="34861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Horizontal Flip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394" y="367664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Tissue rotation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67653" y="2076449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867653" y="2076449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67653" y="3486150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Color Jitter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67653" y="3676649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Stain variation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91135" y="3943350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48263" y="3771900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91135" y="535304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Rotation (15°)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91135" y="5543550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Slide placement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394" y="3943350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394" y="3943350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394" y="535304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RandomCrop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394" y="5543550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Field of view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67653" y="3943350"/>
            <a:ext cx="1523961" cy="1333500"/>
          </a:xfrm>
          <a:prstGeom prst="roundRect">
            <a:avLst>
              <a:gd name="adj" fmla="val 11428"/>
            </a:avLst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67653" y="3943350"/>
            <a:ext cx="1523961" cy="1333500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67653" y="5353049"/>
            <a:ext cx="15239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Vertical Flip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67653" y="5543550"/>
            <a:ext cx="152396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64748B"/>
                </a:solidFill>
                <a:latin typeface="Inter"/>
                <a:rFonts ascii="Inter" hAnsi="Inter" eastAsia="Inter" cs="Inter"/>
              </a:rPr>
              <a:t>Orientation variation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591135" y="5810249"/>
            <a:ext cx="4800479" cy="800100"/>
          </a:xfrm>
          <a:prstGeom prst="roundRect">
            <a:avLst>
              <a:gd name="adj" fmla="val 19047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705432" y="5987863"/>
            <a:ext cx="190495" cy="140073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010224" y="5924549"/>
            <a:ext cx="4267093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334155"/>
                </a:solidFill>
                <a:latin typeface="Inter"/>
                <a:rFonts ascii="Inter" hAnsi="Inter" eastAsia="Inter" cs="Inter"/>
              </a:rPr>
              <a:t>Clinical Insight: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Augmentation simulates </a:t>
            </a:r>
            <a:r>
              <a:rPr sz="837" b="1">
                <a:solidFill>
                  <a:srgbClr val="0D9488"/>
                </a:solidFill>
                <a:latin typeface="Inter"/>
                <a:rFonts ascii="Inter" hAnsi="Inter" eastAsia="Inter" cs="Inter"/>
              </a:rPr>
              <a:t>real-world variability</a:t>
            </a:r>
            <a:r>
              <a:rPr sz="837" b="0">
                <a:solidFill>
                  <a:srgbClr val="334155"/>
                </a:solidFill>
                <a:latin typeface="Inter"/>
                <a:rFonts ascii="Inter" hAnsi="Inter" eastAsia="Inter" cs="Inter"/>
              </a:rPr>
              <a:t> in tissue preparation and imaging → Improves generalization to unseen clinical samples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520898"/>
            <a:ext cx="380990" cy="29170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42971" y="380999"/>
            <a:ext cx="78960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293B"/>
                </a:solidFill>
                <a:latin typeface="Playfair Display"/>
                <a:rFonts ascii="Playfair Display" hAnsi="Playfair Display" eastAsia="Playfair Display" cs="Playfair Display"/>
              </a:rPr>
              <a:t>Robust Performance Across Cancer Subtypes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428750"/>
            <a:ext cx="5257668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0079" y="1681162"/>
            <a:ext cx="228594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0079" y="2000250"/>
            <a:ext cx="4876678" cy="36194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24441" y="1428750"/>
            <a:ext cx="5257668" cy="457200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1681162"/>
            <a:ext cx="228594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14937" y="2000250"/>
            <a:ext cx="4876678" cy="36194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09584" y="6229350"/>
            <a:ext cx="10972525" cy="6858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9333EA"/>
              </a:gs>
              <a:gs pos="100000">
                <a:srgbClr val="2563EB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61980" y="6453394"/>
            <a:ext cx="266693" cy="23771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42971" y="6381749"/>
            <a:ext cx="10286742" cy="3809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Key Insight: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No significant performance gap between classes • Class-weighted loss ensures fairness • Macro F1 scores consistently exceed </a:t>
            </a:r>
            <a:r>
              <a:rPr sz="837" b="1">
                <a:solidFill>
                  <a:srgbClr val="FFFFFF"/>
                </a:solidFill>
                <a:latin typeface="Fira Sans Code"/>
                <a:rFonts ascii="Fira Sans Code" hAnsi="Fira Sans Code" eastAsia="Fira Sans Code" cs="Fira Sans Code"/>
              </a:rPr>
              <a:t>0.998</a:t>
            </a:r>
            <a:r>
              <a:rPr sz="837" b="0">
                <a:solidFill>
                  <a:srgbClr val="FFFFFF"/>
                </a:solidFill>
                <a:latin typeface="Inter"/>
                <a:rFonts ascii="Inter" hAnsi="Inter" eastAsia="Inter" cs="Inter"/>
              </a:rPr>
              <a:t> across all subtypes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{"Label":"1","ContentProducer":"001191110108MA01KP2T5U00000","ProduceID":"b4fa2b873290f4fa5ccc66c2e2fa61c8","ReservedCode1":"","ContentPropagator":"001191110108MA01KP2T5U00000","PropagateID":"b4fa2b873290f4fa5ccc66c2e2fa61c8","ReservedCode2":""}</vt:lpwstr>
  </property>
</Properties>
</file>