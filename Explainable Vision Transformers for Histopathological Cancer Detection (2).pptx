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jpg"/><Relationship Id="rId8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21.jp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0.png"/><Relationship Id="rId6" Type="http://schemas.openxmlformats.org/officeDocument/2006/relationships/image" Target="../media/image5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95000"/>
                </a:srgbClr>
              </a:gs>
              <a:gs pos="50000">
                <a:srgbClr val="172554">
                  <a:alpha val="90000"/>
                </a:srgbClr>
              </a:gs>
              <a:gs pos="100000">
                <a:srgbClr val="134E4A">
                  <a:alpha val="8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43931" y="418168"/>
            <a:ext cx="1142971" cy="91626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04792" y="5353049"/>
            <a:ext cx="1142971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762480" y="637388"/>
            <a:ext cx="666733" cy="4587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33546" y="1562100"/>
            <a:ext cx="7924601" cy="2457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160"/>
              </a:lnSpc>
              <a:spcBef>
                <a:spcPts val="0"/>
              </a:spcBef>
              <a:spcAft>
                <a:spcPts val="2080"/>
              </a:spcAft>
            </a:pPr>
            <a:r>
              <a:rPr sz="3348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 Explainable Vision Transformers for</a:t>
            </a:r>
            <a:r>
              <a:rPr sz="1104"/>
              <a:t>
</a:t>
            </a:r>
            <a:r>
              <a:rPr sz="3348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 </a:t>
            </a:r>
            <a:r>
              <a:rPr sz="3348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Histopathological Cancer Detection</a:t>
            </a:r>
            <a:r>
              <a:rPr sz="3348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629034" y="4410074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DD4B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00599" y="4349563"/>
            <a:ext cx="190495" cy="14007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43491" y="4410074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DD4B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546" y="4819650"/>
            <a:ext cx="792460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435" b="1">
                <a:solidFill>
                  <a:srgbClr val="5EEAD4"/>
                </a:solidFill>
                <a:latin typeface="Inter"/>
                <a:rFonts ascii="Inter" hAnsi="Inter" eastAsia="Inter" cs="Inter"/>
              </a:rPr>
              <a:t>Aya Gharsalli</a:t>
            </a: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435" b="1">
                <a:solidFill>
                  <a:srgbClr val="93C5FD"/>
                </a:solidFill>
                <a:latin typeface="Inter"/>
                <a:rFonts ascii="Inter" hAnsi="Inter" eastAsia="Inter" cs="Inter"/>
              </a:rPr>
              <a:t>&amp;</a:t>
            </a: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435" b="1">
                <a:solidFill>
                  <a:srgbClr val="5EEAD4"/>
                </a:solidFill>
                <a:latin typeface="Inter"/>
                <a:rFonts ascii="Inter" hAnsi="Inter" eastAsia="Inter" cs="Inter"/>
              </a:rPr>
              <a:t>Ferdaws Saidi</a:t>
            </a: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546" y="5238749"/>
            <a:ext cx="79246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BFDBFE"/>
                </a:solidFill>
                <a:latin typeface="Inter"/>
                <a:rFonts ascii="Inter" hAnsi="Inter" eastAsia="Inter" cs="Inter"/>
              </a:rPr>
              <a:t> Under the supervision of </a:t>
            </a:r>
            <a:r>
              <a:rPr sz="1076" b="0">
                <a:solidFill>
                  <a:srgbClr val="5EEAD4"/>
                </a:solidFill>
                <a:latin typeface="Inter"/>
                <a:rFonts ascii="Inter" hAnsi="Inter" eastAsia="Inter" cs="Inter"/>
              </a:rPr>
              <a:t>Dr. Khemaies Abdallah</a:t>
            </a:r>
            <a:r>
              <a:rPr sz="1076" b="0">
                <a:solidFill>
                  <a:srgbClr val="BFDBF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1905" y="5810249"/>
            <a:ext cx="2657408" cy="514350"/>
          </a:xfrm>
          <a:prstGeom prst="roundRect">
            <a:avLst>
              <a:gd name="adj" fmla="val 3703333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010024" y="5978842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52916" y="5934075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Deep Learning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52089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46766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Why Vision Transformers?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409825"/>
            <a:ext cx="5181470" cy="1523999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DC2626"/>
              </a:gs>
              <a:gs pos="100000">
                <a:srgbClr val="F9731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629632"/>
            <a:ext cx="304792" cy="24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169" y="2619374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Clinical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3019424"/>
            <a:ext cx="48004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Cancer misdiagnosis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— common medical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3286125"/>
            <a:ext cx="48004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Pathologists are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scarce &amp; fatigued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552825"/>
            <a:ext cx="48004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Early detection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saves lives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4124324"/>
            <a:ext cx="5181470" cy="1523999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323617"/>
            <a:ext cx="304792" cy="2872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4333875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Why ViT Over CNNs?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4733925"/>
            <a:ext cx="48004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Global context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— sees whole image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5000625"/>
            <a:ext cx="48004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Higher accuracy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on fine-grained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5267324"/>
            <a:ext cx="48004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Richer attention maps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for XAI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639" y="1924049"/>
            <a:ext cx="5181470" cy="20478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29234" y="2214562"/>
            <a:ext cx="228594" cy="1428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29234" y="2571750"/>
            <a:ext cx="2285942" cy="1171575"/>
          </a:xfrm>
          <a:prstGeom prst="roundRect">
            <a:avLst>
              <a:gd name="adj" fmla="val 1300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6109487" y="3091497"/>
            <a:ext cx="1171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19729" y="27572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86422" y="2724150"/>
            <a:ext cx="3428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729" y="3028950"/>
            <a:ext cx="194305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Local receptive field first • Builds global view gradually • Misses long-range patterns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7573" y="2571750"/>
            <a:ext cx="2285942" cy="1171575"/>
          </a:xfrm>
          <a:prstGeom prst="roundRect">
            <a:avLst>
              <a:gd name="adj" fmla="val 13008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8547826" y="3091497"/>
            <a:ext cx="1171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258068" y="2746001"/>
            <a:ext cx="190495" cy="18489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24761" y="2724150"/>
            <a:ext cx="2571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ViT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068" y="3028950"/>
            <a:ext cx="194305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Global attention from start • All patches interact directly • Captures tissue relationships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639" y="4152899"/>
            <a:ext cx="5181470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91135" y="4393882"/>
            <a:ext cx="228594" cy="16573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591135" y="4724399"/>
            <a:ext cx="4800479" cy="57150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05432" y="4911566"/>
            <a:ext cx="228594" cy="19716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48323" y="4838699"/>
            <a:ext cx="19049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Colon — Binary Classification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8323" y="5029200"/>
            <a:ext cx="19049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Benign vs Adenocarcinoma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91135" y="5372100"/>
            <a:ext cx="4800479" cy="571500"/>
          </a:xfrm>
          <a:prstGeom prst="roundRect">
            <a:avLst>
              <a:gd name="adj" fmla="val 26666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05432" y="5572125"/>
            <a:ext cx="228594" cy="171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48323" y="5486400"/>
            <a:ext cx="30955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Lung — 3-Class Classification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8323" y="5676900"/>
            <a:ext cx="30955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Benign vs Adenocarcinoma vs Squamous Cell Carcinoma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513457"/>
            <a:ext cx="380990" cy="3065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881992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LC25000 Dataset &amp; Histopathology Fundamentals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257425"/>
            <a:ext cx="5181470" cy="1219200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476914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1070" y="2447924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LC25000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828925"/>
            <a:ext cx="152396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25K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3133724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Total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339" y="2828925"/>
            <a:ext cx="152396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339" y="3133724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Per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6598" y="2828925"/>
            <a:ext cx="152396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768²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598" y="3133724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Resolution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629025"/>
            <a:ext cx="5181470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6024" y="4172585"/>
            <a:ext cx="1219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3839817"/>
            <a:ext cx="266693" cy="2261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9169" y="3819524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H&amp;E Staining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179" y="4219575"/>
            <a:ext cx="152396" cy="152400"/>
          </a:xfrm>
          <a:prstGeom prst="roundRect">
            <a:avLst>
              <a:gd name="adj" fmla="val 1249875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6773" y="4200525"/>
            <a:ext cx="22764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Hematoxylin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→ Nuclei (Blue/Purple)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179" y="4486275"/>
            <a:ext cx="152396" cy="152400"/>
          </a:xfrm>
          <a:prstGeom prst="roundRect">
            <a:avLst>
              <a:gd name="adj" fmla="val 1249875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773" y="4467224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B2777"/>
                </a:solidFill>
                <a:latin typeface="Inter"/>
                <a:rFonts ascii="Inter" hAnsi="Inter" eastAsia="Inter" cs="Inter"/>
              </a:rPr>
              <a:t>Eosin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→ Cytoplasm (Pink)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5000625"/>
            <a:ext cx="5181470" cy="8001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75574" y="5334635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5180171"/>
            <a:ext cx="228594" cy="1743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5153024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Cancer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79" y="5457825"/>
            <a:ext cx="48385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Irregular nuclei • Abnormal cell shapes • Atypical tissue 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639" y="2009774"/>
            <a:ext cx="5181470" cy="2743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2245042"/>
            <a:ext cx="228594" cy="17716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591135" y="2581275"/>
            <a:ext cx="2343091" cy="17145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10244" y="441007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0739" y="4371975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Benign Tissue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8523" y="2581275"/>
            <a:ext cx="2343091" cy="1714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72385" y="441007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2880" y="4371975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Malignant Tissue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639" y="4905375"/>
            <a:ext cx="5181470" cy="1143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53036" y="5095617"/>
            <a:ext cx="209544" cy="15291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553036" y="5400675"/>
            <a:ext cx="2381190" cy="49529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234" y="5476875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Colon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234" y="5667374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colon_aca • colon_n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8523" y="5400675"/>
            <a:ext cx="2381190" cy="49529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24721" y="5476875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Lung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4721" y="5667374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lung_aca • lung_scc • lung_n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88156"/>
            <a:ext cx="380990" cy="3571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668638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ViT-B/16: From Patches to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371725"/>
            <a:ext cx="4705232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389874" y="259143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980" y="25050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278" y="2562224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9333EA"/>
                </a:solidFill>
                <a:latin typeface="Fira Sans Code"/>
                <a:rFonts ascii="Fira Sans Code" hAnsi="Fira Sans Code" eastAsia="Fira Sans Code" cs="Fira Sans Cod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070" y="2486025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Patch Splitting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070" y="2676524"/>
            <a:ext cx="18287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224×224 → </a:t>
            </a:r>
            <a:r>
              <a:rPr sz="717" b="0">
                <a:solidFill>
                  <a:srgbClr val="9333EA"/>
                </a:solidFill>
                <a:latin typeface="Fira Sans Code"/>
                <a:rFonts ascii="Fira Sans Code" hAnsi="Fira Sans Code" eastAsia="Fira Sans Code" cs="Fira Sans Code"/>
              </a:rPr>
              <a:t>196</a:t>
            </a: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patches of 16×16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057525"/>
            <a:ext cx="4705232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89874" y="327723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1980" y="31908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278" y="3248024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070" y="3171825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Patch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070" y="3362324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768 raw values → </a:t>
            </a:r>
            <a:r>
              <a:rPr sz="717" b="0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768-dim</a:t>
            </a: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vector per patch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743325"/>
            <a:ext cx="4705232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4" y="396303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1980" y="38766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278" y="3933824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D9488"/>
                </a:solidFill>
                <a:latin typeface="Fira Sans Code"/>
                <a:rFonts ascii="Fira Sans Code" hAnsi="Fira Sans Code" eastAsia="Fira Sans Code" cs="Fira Sans Cod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070" y="3857625"/>
            <a:ext cx="27240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CLS Token + Positional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070" y="4048124"/>
            <a:ext cx="27240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Prepended token + learnable position embeddings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4429125"/>
            <a:ext cx="4705232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389874" y="464883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1980" y="45624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278" y="4619625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EA580C"/>
                </a:solidFill>
                <a:latin typeface="Fira Sans Code"/>
                <a:rFonts ascii="Fira Sans Code" hAnsi="Fira Sans Code" eastAsia="Fira Sans Code" cs="Fira Sans Cod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070" y="4543425"/>
            <a:ext cx="29145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12 Transformer Blocks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070" y="4733925"/>
            <a:ext cx="29145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MHSA (12 heads) + FFN (768→3072→768) + Residual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5114925"/>
            <a:ext cx="4705232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89874" y="533463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1980" y="52482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278" y="5305425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Fira Sans Code"/>
                <a:rFonts ascii="Fira Sans Code" hAnsi="Fira Sans Code" eastAsia="Fira Sans Code" cs="Fira Sans Cod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1070" y="5229225"/>
            <a:ext cx="23621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Classification 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1070" y="5419725"/>
            <a:ext cx="23621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Linear(768→2) Colon | Linear(768→3) Lung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72005" y="1914525"/>
            <a:ext cx="5810104" cy="2971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24401" y="2066924"/>
            <a:ext cx="5505312" cy="2667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72005" y="5038724"/>
            <a:ext cx="2847903" cy="1104900"/>
          </a:xfrm>
          <a:prstGeom prst="roundRect">
            <a:avLst>
              <a:gd name="adj" fmla="val 20689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24401" y="5216842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29194" y="5191125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Transfer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4401" y="5495924"/>
            <a:ext cx="25431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Pre-trained on </a:t>
            </a: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ImageNet-21k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4401" y="5715000"/>
            <a:ext cx="25431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14M images • 21k categories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4206" y="5038724"/>
            <a:ext cx="2847903" cy="1104900"/>
          </a:xfrm>
          <a:prstGeom prst="roundRect">
            <a:avLst>
              <a:gd name="adj" fmla="val 20689"/>
            </a:avLst>
          </a:prstGeom>
          <a:gradFill rotWithShape="1">
            <a:gsLst>
              <a:gs pos="0">
                <a:srgbClr val="9333EA"/>
              </a:gs>
              <a:gs pos="100000">
                <a:srgbClr val="DB277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886602" y="5216842"/>
            <a:ext cx="228594" cy="1771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91395" y="5191125"/>
            <a:ext cx="8191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Model Size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6602" y="5495924"/>
            <a:ext cx="254311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86M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6602" y="5838824"/>
            <a:ext cx="25431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52089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749598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Optimization Pipeline for Medical Imaging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486025"/>
            <a:ext cx="5476738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75574" y="2820035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2636320"/>
            <a:ext cx="247643" cy="1756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2600325"/>
            <a:ext cx="48481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AdamW (Not Adam)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21" y="2867025"/>
            <a:ext cx="4848103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Decoupled weight decay</a:t>
            </a: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• Proper L2 regularization • Better generalization for Transformers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400425"/>
            <a:ext cx="5476738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351775" y="36582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3569438"/>
            <a:ext cx="247643" cy="1382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3921" y="3514725"/>
            <a:ext cx="37718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Cosine Annealing (Not Step Decay)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21" y="3781424"/>
            <a:ext cx="37718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Smooth decay </a:t>
            </a:r>
            <a:r>
              <a:rPr sz="717" b="0">
                <a:solidFill>
                  <a:srgbClr val="0D9488"/>
                </a:solidFill>
                <a:latin typeface="Fira Sans Code"/>
                <a:rFonts ascii="Fira Sans Code" hAnsi="Fira Sans Code" eastAsia="Fira Sans Code" cs="Fira Sans Code"/>
              </a:rPr>
              <a:t>2e-4 → 1e-6</a:t>
            </a: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• No abrupt drops • Better convergence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162424"/>
            <a:ext cx="5476738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51775" y="44202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4302641"/>
            <a:ext cx="247643" cy="1958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4276725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Mixed Precision (FP16)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21" y="4543425"/>
            <a:ext cx="29145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9333EA"/>
                </a:solidFill>
                <a:latin typeface="Inter"/>
                <a:rFonts ascii="Inter" hAnsi="Inter" eastAsia="Inter" cs="Inter"/>
              </a:rPr>
              <a:t>2× faster</a:t>
            </a: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training • </a:t>
            </a:r>
            <a:r>
              <a:rPr sz="717" b="1">
                <a:solidFill>
                  <a:srgbClr val="9333EA"/>
                </a:solidFill>
                <a:latin typeface="Inter"/>
                <a:rFonts ascii="Inter" hAnsi="Inter" eastAsia="Inter" cs="Inter"/>
              </a:rPr>
              <a:t>50% less VRAM</a:t>
            </a: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• Same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924424"/>
            <a:ext cx="5476738" cy="6476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351775" y="5182233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5060322"/>
            <a:ext cx="247643" cy="2044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3921" y="5038724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Class-Weighted Loss (Lung)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21" y="5305425"/>
            <a:ext cx="35051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Penalizes errors on harder classes • Compensates for imbalance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43511" y="2009774"/>
            <a:ext cx="5038599" cy="1676400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95907" y="2176669"/>
            <a:ext cx="266693" cy="2377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76898" y="2162174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Data Augmentation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95907" y="2543175"/>
            <a:ext cx="2324041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72105" y="2619374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Horizontal/Vertical Flip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105" y="277177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No canonical orientation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5672" y="2543175"/>
            <a:ext cx="2324041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1870" y="2619374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Random Rotation (±15°)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1870" y="277177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Slide placement variation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95907" y="3076574"/>
            <a:ext cx="4733806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72105" y="3152775"/>
            <a:ext cx="45814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ColorJitter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2105" y="3305174"/>
            <a:ext cx="45814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Compensates for stain variation between labs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43511" y="3800475"/>
            <a:ext cx="5038599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95907" y="3952874"/>
            <a:ext cx="4733806" cy="1714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5907" y="5743575"/>
            <a:ext cx="47338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Cosine Annealing: Smooth LR Decay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97085"/>
            <a:ext cx="380990" cy="3393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49909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Clinical-Grade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200275"/>
            <a:ext cx="3609884" cy="1181099"/>
          </a:xfrm>
          <a:prstGeom prst="roundRect">
            <a:avLst>
              <a:gd name="adj" fmla="val 19354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435542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4872" y="2390774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Colon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733674"/>
            <a:ext cx="15620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86075"/>
            <a:ext cx="156206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99.93%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6438" y="2733674"/>
            <a:ext cx="15620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Macro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6438" y="2886075"/>
            <a:ext cx="156206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0.9993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533774"/>
            <a:ext cx="3609884" cy="1181099"/>
          </a:xfrm>
          <a:prstGeom prst="roundRect">
            <a:avLst>
              <a:gd name="adj" fmla="val 19354"/>
            </a:avLst>
          </a:prstGeom>
          <a:gradFill rotWithShape="1">
            <a:gsLst>
              <a:gs pos="0">
                <a:srgbClr val="9333EA"/>
              </a:gs>
              <a:gs pos="100000">
                <a:srgbClr val="DB277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789045"/>
            <a:ext cx="228594" cy="1371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4872" y="3724274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Lung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4067174"/>
            <a:ext cx="15620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3E8FF"/>
                </a:solidFill>
                <a:latin typeface="Inter"/>
                <a:rFonts ascii="Inter" hAnsi="Inter" eastAsia="Inter" cs="Inter"/>
              </a:rPr>
              <a:t>Test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219575"/>
            <a:ext cx="156206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99.82%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6438" y="4067174"/>
            <a:ext cx="15620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3E8FF"/>
                </a:solidFill>
                <a:latin typeface="Inter"/>
                <a:rFonts ascii="Inter" hAnsi="Inter" eastAsia="Inter" cs="Inter"/>
              </a:rPr>
              <a:t>Macro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6438" y="4219575"/>
            <a:ext cx="156206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0.9982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4867274"/>
            <a:ext cx="3609884" cy="990599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180325" y="5296533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5051854"/>
            <a:ext cx="209544" cy="1642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5019675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Clinical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79" y="5324474"/>
            <a:ext cx="32669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Recall &gt; 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79" y="5553074"/>
            <a:ext cx="32669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Missing cancer (FN) is worse than false alarm (FP)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6658" y="2047874"/>
            <a:ext cx="3371765" cy="22098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0955" y="2162174"/>
            <a:ext cx="31431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Colon Confusion Matrix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90955" y="2428875"/>
            <a:ext cx="3143171" cy="1714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10344" y="2047874"/>
            <a:ext cx="3371765" cy="22098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4641" y="2162174"/>
            <a:ext cx="31431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Lung Confusion Matrix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4641" y="2428875"/>
            <a:ext cx="3143171" cy="17145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76658" y="4410074"/>
            <a:ext cx="6905452" cy="1600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29054" y="4594654"/>
            <a:ext cx="209544" cy="164241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829054" y="4905375"/>
            <a:ext cx="2124021" cy="6858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43351" y="5019675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Benign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43351" y="5324474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F1 ≈ 0.999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67373" y="4905375"/>
            <a:ext cx="2124021" cy="6858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1670" y="5019675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Adenocarcinoma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1670" y="5324474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F1 ≈ 0.999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05692" y="4905375"/>
            <a:ext cx="2124021" cy="68580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9989" y="5019675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7E22CE"/>
                </a:solidFill>
                <a:latin typeface="Inter"/>
                <a:rFonts ascii="Inter" hAnsi="Inter" eastAsia="Inter" cs="Inter"/>
              </a:rPr>
              <a:t>Squamous Cell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9989" y="5324474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F1 ≈ 0.999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9054" y="5705475"/>
            <a:ext cx="66006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Averages F1 across all classes equally • Most informative for 3-class problems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541734"/>
            <a:ext cx="380990" cy="2500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88580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Transparent AI: From Black Box to Clinical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209800"/>
            <a:ext cx="4419489" cy="1162050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94599" y="2724785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383797"/>
            <a:ext cx="247643" cy="204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2371725"/>
            <a:ext cx="12477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Attention Rollout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76578" y="2371725"/>
            <a:ext cx="1000099" cy="2286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6578" y="2371725"/>
            <a:ext cx="10000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Class-Agnostic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686050"/>
            <a:ext cx="40765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Propagates attention through </a:t>
            </a:r>
            <a:r>
              <a:rPr sz="71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12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2876549"/>
            <a:ext cx="40765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Shows global attention flow: </a:t>
            </a: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WHERE</a:t>
            </a: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model looks overall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067050"/>
            <a:ext cx="40765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Head fusion + discard ratio for noise reduction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486150"/>
            <a:ext cx="4419489" cy="1162050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94599" y="4001135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664466"/>
            <a:ext cx="247643" cy="1958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21" y="3648074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Grad-CAM for ViT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1785" y="3648074"/>
            <a:ext cx="1295367" cy="228600"/>
          </a:xfrm>
          <a:prstGeom prst="roundRect">
            <a:avLst>
              <a:gd name="adj" fmla="val 33333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1785" y="3648074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Class-Discriminative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3962399"/>
            <a:ext cx="40765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Gradient-weighted activations from last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4152899"/>
            <a:ext cx="40765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Shows prediction-specific: </a:t>
            </a: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WHAT</a:t>
            </a: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drives each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4343400"/>
            <a:ext cx="40765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ReLU keeps only positive contributions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4762500"/>
            <a:ext cx="4419489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4960974"/>
            <a:ext cx="247643" cy="15550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4924424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Key Difference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980" y="5238749"/>
            <a:ext cx="2019249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179" y="5314950"/>
            <a:ext cx="18668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Rollout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79" y="5467349"/>
            <a:ext cx="18668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Same map regardless of class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7428" y="5238749"/>
            <a:ext cx="2019249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3626" y="5314950"/>
            <a:ext cx="18668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Grad-CAM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3626" y="5467349"/>
            <a:ext cx="18668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Different maps per class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10064" y="2028825"/>
            <a:ext cx="6172045" cy="31242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562460" y="2196413"/>
            <a:ext cx="209544" cy="19822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562460" y="2524125"/>
            <a:ext cx="1904952" cy="209549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62460" y="4695824"/>
            <a:ext cx="19049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Original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2460" y="4848225"/>
            <a:ext cx="19049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Raw tissue sample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611" y="2524125"/>
            <a:ext cx="1904952" cy="2095499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611" y="4695824"/>
            <a:ext cx="19049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Attention Rollout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611" y="4848225"/>
            <a:ext cx="19049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Global attention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24761" y="2524125"/>
            <a:ext cx="1904952" cy="2095499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4761" y="4695824"/>
            <a:ext cx="19049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Grad-CAM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4761" y="4848225"/>
            <a:ext cx="19049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Class-specific regions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10064" y="5267324"/>
            <a:ext cx="6172045" cy="761999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095105" y="55822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562460" y="5414682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829154" y="5381624"/>
            <a:ext cx="56386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Clinical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29154" y="5610224"/>
            <a:ext cx="563865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Heatmaps reveal model focuses on </a:t>
            </a:r>
            <a:r>
              <a:rPr sz="71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histological structures</a:t>
            </a: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(not artifacts) • Enables pathologist verification • Builds trust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82203"/>
            <a:ext cx="380990" cy="369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79722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Bridging Deep Learning and Clinical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171700"/>
            <a:ext cx="3981350" cy="1162050"/>
          </a:xfrm>
          <a:prstGeom prst="roundRect">
            <a:avLst>
              <a:gd name="adj" fmla="val 19672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2350016"/>
            <a:ext cx="247643" cy="195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5822" y="2333624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Key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2647949"/>
            <a:ext cx="36765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717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99.93%</a:t>
            </a: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Colon / </a:t>
            </a:r>
            <a:r>
              <a:rPr sz="717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99.82%</a:t>
            </a: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2838450"/>
            <a:ext cx="36765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Novel XAI for ViT in histopathology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0" y="3028950"/>
            <a:ext cx="36765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Dual explanation builds clinical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448049"/>
            <a:ext cx="3981350" cy="1162050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94599" y="3963034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626366"/>
            <a:ext cx="247643" cy="195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360997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Clinical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924299"/>
            <a:ext cx="3638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Enables pathologist </a:t>
            </a:r>
            <a:r>
              <a:rPr sz="71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114800"/>
            <a:ext cx="3638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Reduces diagnostic errors &amp; 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305300"/>
            <a:ext cx="3638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AI as </a:t>
            </a: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second opinion</a:t>
            </a: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, not replacement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4724399"/>
            <a:ext cx="3981350" cy="1162050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94599" y="5239384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4895517"/>
            <a:ext cx="247643" cy="2102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21" y="4886325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Multi-Organ Extension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5200650"/>
            <a:ext cx="3638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Organ-agnostic pipeline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79" y="5391150"/>
            <a:ext cx="3638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Auto-generate custom heads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79" y="5581649"/>
            <a:ext cx="3638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Consistent XAI across organs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1925" y="2095499"/>
            <a:ext cx="6610184" cy="1962149"/>
          </a:xfrm>
          <a:prstGeom prst="roundRect">
            <a:avLst>
              <a:gd name="adj" fmla="val 11650"/>
            </a:avLst>
          </a:prstGeom>
          <a:gradFill rotWithShape="1">
            <a:gsLst>
              <a:gs pos="0">
                <a:srgbClr val="9333EA"/>
              </a:gs>
              <a:gs pos="100000">
                <a:srgbClr val="DB277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124321" y="2279576"/>
            <a:ext cx="247643" cy="18429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48163" y="2257425"/>
            <a:ext cx="29717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Future: Multi-Modal Fusion 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4321" y="2609850"/>
            <a:ext cx="2047823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0519" y="2686050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Histopathology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0519" y="2876549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ViT-B/16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0519" y="3067050"/>
            <a:ext cx="18954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768-dim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48343" y="2609850"/>
            <a:ext cx="2047823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24541" y="2686050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Radiology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541" y="2876549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ViT-S/16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541" y="3067050"/>
            <a:ext cx="18954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384-dim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81890" y="2609850"/>
            <a:ext cx="2047823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8088" y="2686050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Clinical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58088" y="2876549"/>
            <a:ext cx="18954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MLP Encoder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8088" y="3067050"/>
            <a:ext cx="18954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128-dim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4321" y="3409950"/>
            <a:ext cx="6305392" cy="495299"/>
          </a:xfrm>
          <a:prstGeom prst="roundRect">
            <a:avLst>
              <a:gd name="adj" fmla="val 15384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00519" y="3486150"/>
            <a:ext cx="615299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Fusion: </a:t>
            </a:r>
            <a:r>
              <a:rPr sz="717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768 + 384 + 128 = 1280 dim</a:t>
            </a: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→ MLP → 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00519" y="3676649"/>
            <a:ext cx="615299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Clinical metadata: age, smoking history, stage, biomarkers, lymph node involvement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1925" y="4171950"/>
            <a:ext cx="3247943" cy="17907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86222" y="4286250"/>
            <a:ext cx="3019349" cy="133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743431" y="5734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7728" y="5695949"/>
            <a:ext cx="5524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ViT (Ours)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24461" y="5734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38759" y="5695949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CNN Baselines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4166" y="4171950"/>
            <a:ext cx="3247943" cy="17907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48463" y="4296055"/>
            <a:ext cx="190495" cy="170889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448463" y="4570639"/>
            <a:ext cx="152396" cy="11702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677058" y="4552949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Lung:</a:t>
            </a: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3 classes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448463" y="4752974"/>
            <a:ext cx="152396" cy="13334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77058" y="4743450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Colon:</a:t>
            </a: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2 classes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448463" y="4948917"/>
            <a:ext cx="152396" cy="12246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77058" y="4933950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Breast:</a:t>
            </a:r>
            <a:r>
              <a:rPr sz="71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2 classes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448463" y="5135335"/>
            <a:ext cx="152396" cy="1306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677058" y="5124449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75569"/>
                </a:solidFill>
                <a:latin typeface="Inter"/>
                <a:rFonts ascii="Inter" hAnsi="Inter" eastAsia="Inter" cs="Inter"/>
              </a:rPr>
              <a:t>Easy extension...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27"/>
            </a:gs>
            <a:gs pos="50000">
              <a:srgbClr val="203A43"/>
            </a:gs>
            <a:gs pos="100000">
              <a:srgbClr val="2C5364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91535" y="570568"/>
            <a:ext cx="1142971" cy="91626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7188" y="5287617"/>
            <a:ext cx="1142971" cy="9690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714857" y="823451"/>
            <a:ext cx="761980" cy="639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24221" y="1885950"/>
            <a:ext cx="3933726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629034" y="3105149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DD4B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00599" y="3054163"/>
            <a:ext cx="190495" cy="1400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43491" y="3105149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DD4B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4221" y="3524250"/>
            <a:ext cx="39337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99F6E4"/>
                </a:solidFill>
                <a:latin typeface="Inter"/>
                <a:rFonts ascii="Inter" hAnsi="Inter" eastAsia="Inter" cs="Inter"/>
              </a:rPr>
              <a:t>Questions &amp; Discussion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4221" y="4286250"/>
            <a:ext cx="3933726" cy="1819275"/>
          </a:xfrm>
          <a:prstGeom prst="roundRect">
            <a:avLst>
              <a:gd name="adj" fmla="val 1675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38539" y="4711211"/>
            <a:ext cx="304792" cy="2168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57628" y="4591050"/>
            <a:ext cx="288600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FDBFE"/>
                </a:solidFill>
                <a:latin typeface="Inter"/>
                <a:rFonts ascii="Inter" hAnsi="Inter" eastAsia="Inter" cs="Inter"/>
              </a:rPr>
              <a:t>PREPARED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628" y="4781549"/>
            <a:ext cx="28860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AYA GHARSALLI &amp; FERDWAS SAIDI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8539" y="5276850"/>
            <a:ext cx="3305092" cy="952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DD4B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495687" y="5544110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62380" y="5448300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9F6E4"/>
                </a:solidFill>
                <a:latin typeface="Inter"/>
                <a:rFonts ascii="Inter" hAnsi="Inter" eastAsia="Inter" cs="Inter"/>
              </a:rPr>
              <a:t>Supervisor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380" y="560070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Dr. Khemaies Abdallah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5566522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2580" y="5448300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9F6E4"/>
                </a:solidFill>
                <a:latin typeface="Inter"/>
                <a:rFonts ascii="Inter" hAnsi="Inter" eastAsia="Inter" cs="Inter"/>
              </a:rPr>
              <a:t>Course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580" y="5600700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{"Label":"1","ContentProducer":"001191110108MA01KP2T5U00000","ProduceID":"0709e47a3b58ebfab176e7d2f20e9256","ReservedCode1":"","ContentPropagator":"001191110108MA01KP2T5U00000","PropagateID":"0709e47a3b58ebfab176e7d2f20e9256","ReservedCode2":""}</vt:lpwstr>
  </property>
</Properties>
</file>